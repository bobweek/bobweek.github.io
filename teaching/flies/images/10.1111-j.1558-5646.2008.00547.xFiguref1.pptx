
<file path=[Content_Types].xml><?xml version="1.0" encoding="utf-8"?>
<Types xmlns="http://schemas.openxmlformats.org/package/2006/content-types">
  <Override PartName="/_rels/.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_rels/presentation.xml.rels" ContentType="application/vnd.openxmlformats-package.relationships+xml"/>
  <Override PartName="/ppt/media/image1.gif" ContentType="image/gif"/>
  <Override PartName="/ppt/slides/_rels/slide1.xml.rels" ContentType="application/vnd.openxmlformats-package.relationships+xml"/>
  <Override PartName="/ppt/slides/slide1.xml" ContentType="application/vnd.openxmlformats-officedocument.presentationml.slide+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slideMasters/_rels/slideMaster1.xml.rels" ContentType="application/vnd.openxmlformats-package.relationships+xml"/>
  <Override PartName="/ppt/slideMasters/slideMaster1.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presentation.xml" ContentType="application/vnd.openxmlformats-officedocument.presentationml.presentation.main+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9144000"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p:spPr>
        <p:txBody>
          <a:bodyPr lIns="0" rIns="0" tIns="0" bIns="0" anchor="ctr"/>
          <a:p>
            <a:pPr algn="ctr"/>
            <a:r>
              <a:rPr b="0" lang="en-US" sz="4400" spc="-1" strike="noStrike">
                <a:latin typeface="Arial"/>
              </a:rPr>
              <a:t>Click to move the slide</a:t>
            </a:r>
            <a:endParaRPr b="0" lang="en-US" sz="4400" spc="-1" strike="noStrike">
              <a:latin typeface="Arial"/>
            </a:endParaRPr>
          </a:p>
        </p:txBody>
      </p:sp>
      <p:sp>
        <p:nvSpPr>
          <p:cNvPr id="39" name="PlaceHolder 2"/>
          <p:cNvSpPr>
            <a:spLocks noGrp="1"/>
          </p:cNvSpPr>
          <p:nvPr>
            <p:ph type="body"/>
          </p:nvPr>
        </p:nvSpPr>
        <p:spPr>
          <a:xfrm>
            <a:off x="777240" y="4777560"/>
            <a:ext cx="6217560" cy="4525920"/>
          </a:xfrm>
          <a:prstGeom prst="rect">
            <a:avLst/>
          </a:prstGeom>
        </p:spPr>
        <p:txBody>
          <a:bodyPr lIns="0" rIns="0" tIns="0" bIns="0"/>
          <a:p>
            <a:r>
              <a:rPr b="0" lang="en-US" sz="2000" spc="-1" strike="noStrike">
                <a:latin typeface="Arial"/>
              </a:rPr>
              <a:t>Click to edit the notes format</a:t>
            </a:r>
            <a:endParaRPr b="0" lang="en-US" sz="2000" spc="-1" strike="noStrike">
              <a:latin typeface="Arial"/>
            </a:endParaRPr>
          </a:p>
        </p:txBody>
      </p:sp>
      <p:sp>
        <p:nvSpPr>
          <p:cNvPr id="40" name="PlaceHolder 3"/>
          <p:cNvSpPr>
            <a:spLocks noGrp="1"/>
          </p:cNvSpPr>
          <p:nvPr>
            <p:ph type="hdr"/>
          </p:nvPr>
        </p:nvSpPr>
        <p:spPr>
          <a:xfrm>
            <a:off x="0" y="0"/>
            <a:ext cx="3372840" cy="502560"/>
          </a:xfrm>
          <a:prstGeom prst="rect">
            <a:avLst/>
          </a:prstGeom>
        </p:spPr>
        <p:txBody>
          <a:bodyPr lIns="0" rIns="0" tIns="0" bIns="0"/>
          <a:p>
            <a:r>
              <a:rPr b="0" lang="en-US" sz="1400" spc="-1" strike="noStrike">
                <a:solidFill>
                  <a:srgbClr val="303d22"/>
                </a:solidFill>
                <a:latin typeface="Arial"/>
              </a:rPr>
              <a:t>&lt;header&gt;</a:t>
            </a:r>
            <a:endParaRPr b="0" lang="en-US" sz="1400" spc="-1" strike="noStrike">
              <a:solidFill>
                <a:srgbClr val="303d22"/>
              </a:solidFill>
              <a:latin typeface="Arial"/>
            </a:endParaRPr>
          </a:p>
        </p:txBody>
      </p:sp>
      <p:sp>
        <p:nvSpPr>
          <p:cNvPr id="41" name="PlaceHolder 4"/>
          <p:cNvSpPr>
            <a:spLocks noGrp="1"/>
          </p:cNvSpPr>
          <p:nvPr>
            <p:ph type="dt"/>
          </p:nvPr>
        </p:nvSpPr>
        <p:spPr>
          <a:xfrm>
            <a:off x="4399200" y="0"/>
            <a:ext cx="3372840" cy="502560"/>
          </a:xfrm>
          <a:prstGeom prst="rect">
            <a:avLst/>
          </a:prstGeom>
        </p:spPr>
        <p:txBody>
          <a:bodyPr lIns="0" rIns="0" tIns="0" bIns="0"/>
          <a:p>
            <a:pPr algn="r"/>
            <a:r>
              <a:rPr b="0" lang="en-US" sz="1400" spc="-1" strike="noStrike">
                <a:solidFill>
                  <a:srgbClr val="303d22"/>
                </a:solidFill>
                <a:latin typeface="Arial"/>
              </a:rPr>
              <a:t>&lt;date/time&gt;</a:t>
            </a:r>
            <a:endParaRPr b="0" lang="en-US" sz="1400" spc="-1" strike="noStrike">
              <a:solidFill>
                <a:srgbClr val="303d22"/>
              </a:solidFill>
              <a:latin typeface="Arial"/>
            </a:endParaRPr>
          </a:p>
        </p:txBody>
      </p:sp>
      <p:sp>
        <p:nvSpPr>
          <p:cNvPr id="42" name="PlaceHolder 5"/>
          <p:cNvSpPr>
            <a:spLocks noGrp="1"/>
          </p:cNvSpPr>
          <p:nvPr>
            <p:ph type="ftr"/>
          </p:nvPr>
        </p:nvSpPr>
        <p:spPr>
          <a:xfrm>
            <a:off x="0" y="9555480"/>
            <a:ext cx="3372840" cy="502560"/>
          </a:xfrm>
          <a:prstGeom prst="rect">
            <a:avLst/>
          </a:prstGeom>
        </p:spPr>
        <p:txBody>
          <a:bodyPr lIns="0" rIns="0" tIns="0" bIns="0" anchor="b"/>
          <a:p>
            <a:r>
              <a:rPr b="0" lang="en-US" sz="1400" spc="-1" strike="noStrike">
                <a:solidFill>
                  <a:srgbClr val="303d22"/>
                </a:solidFill>
                <a:latin typeface="Arial"/>
              </a:rPr>
              <a:t>&lt;footer&gt;</a:t>
            </a:r>
            <a:endParaRPr b="0" lang="en-US" sz="1400" spc="-1" strike="noStrike">
              <a:solidFill>
                <a:srgbClr val="303d22"/>
              </a:solidFill>
              <a:latin typeface="Arial"/>
            </a:endParaRPr>
          </a:p>
        </p:txBody>
      </p:sp>
      <p:sp>
        <p:nvSpPr>
          <p:cNvPr id="43" name="PlaceHolder 6"/>
          <p:cNvSpPr>
            <a:spLocks noGrp="1"/>
          </p:cNvSpPr>
          <p:nvPr>
            <p:ph type="sldNum"/>
          </p:nvPr>
        </p:nvSpPr>
        <p:spPr>
          <a:xfrm>
            <a:off x="4399200" y="9555480"/>
            <a:ext cx="3372840" cy="502560"/>
          </a:xfrm>
          <a:prstGeom prst="rect">
            <a:avLst/>
          </a:prstGeom>
        </p:spPr>
        <p:txBody>
          <a:bodyPr lIns="0" rIns="0" tIns="0" bIns="0" anchor="b"/>
          <a:p>
            <a:pPr algn="r"/>
            <a:fld id="{703E8C21-4431-4CA0-B76F-A8395AC2AB15}" type="slidenum">
              <a:rPr b="0" lang="en-US" sz="1400" spc="-1" strike="noStrike">
                <a:solidFill>
                  <a:srgbClr val="303d22"/>
                </a:solidFill>
                <a:latin typeface="Arial"/>
              </a:rPr>
              <a:t>&lt;number&gt;</a:t>
            </a:fld>
            <a:endParaRPr b="0" lang="en-US" sz="1400" spc="-1" strike="noStrike">
              <a:solidFill>
                <a:srgbClr val="303d22"/>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sldImg"/>
          </p:nvPr>
        </p:nvSpPr>
        <p:spPr>
          <a:xfrm>
            <a:off x="1587960" y="1005840"/>
            <a:ext cx="4596480" cy="3447360"/>
          </a:xfrm>
          <a:prstGeom prst="rect">
            <a:avLst/>
          </a:prstGeom>
        </p:spPr>
      </p:sp>
      <p:sp>
        <p:nvSpPr>
          <p:cNvPr id="48" name="PlaceHolder 2"/>
          <p:cNvSpPr>
            <a:spLocks noGrp="1"/>
          </p:cNvSpPr>
          <p:nvPr>
            <p:ph type="body"/>
          </p:nvPr>
        </p:nvSpPr>
        <p:spPr>
          <a:xfrm>
            <a:off x="1185120" y="4787640"/>
            <a:ext cx="5407560" cy="12183120"/>
          </a:xfrm>
          <a:prstGeom prst="rect">
            <a:avLst/>
          </a:prstGeom>
        </p:spPr>
        <p:txBody>
          <a:bodyPr lIns="0" rIns="0" tIns="0" bIns="0"/>
          <a:p>
            <a:r>
              <a:rPr b="0" lang="en-US" sz="2000" spc="-1" strike="noStrike">
                <a:latin typeface="Arial"/>
              </a:rPr>
              <a:t>Reciprocal selection between the long‐proboscid fly, M. longirostris, and the long‐tubed iris, L. anceps. (A) The extraordinary elongation of both proboscis and flower tube length suggests either one‐sided adaptation, or coevolution by reciprocal selection. (B) If the proboscis is longer than the nectar tube, the anthers and stigma do not contact the body while the fly potentially drains the nectar. (C) As Darwin hypothesized, the fitness benefits to individual pollinators and plants depended on the relative length of their interacting proboscides and floral tubes. As the balance of armament shifts in favor of the flies, the percentage of nectar consumed increased (open markers; solid line), whereas the number of pollen grains deposited during the same set of interactions decreases (filled markers; dashed line). (D) Nectar tube length imposed directional selection on proboscis length via nectar rewards; (E) simultaneously proboscis length imposed directional selection on tube length via pollen receipt, potentially leading to a coevolutionary arms race. Scale bars = 1 cm. The dotted line indicates where proboscis and tube are of the same length. </a:t>
            </a:r>
            <a:endParaRPr b="0" lang="en-US" sz="2000" spc="-1" strike="noStrike">
              <a:latin typeface="Arial"/>
            </a:endParaRPr>
          </a:p>
          <a:p>
            <a:r>
              <a:rPr b="0" lang="en-US" sz="2000" spc="-1" strike="noStrike">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endParaRPr b="0" lang="en-US"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2" name="PlaceHolder 2"/>
          <p:cNvSpPr>
            <a:spLocks noGrp="1"/>
          </p:cNvSpPr>
          <p:nvPr>
            <p:ph type="body"/>
          </p:nvPr>
        </p:nvSpPr>
        <p:spPr>
          <a:xfrm>
            <a:off x="457200" y="1604520"/>
            <a:ext cx="2649600" cy="189684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3239640" y="1604520"/>
            <a:ext cx="2649600" cy="189684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6022080" y="1604520"/>
            <a:ext cx="2649600" cy="189684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457200" y="3682080"/>
            <a:ext cx="2649600" cy="189684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3239640" y="3682080"/>
            <a:ext cx="2649600" cy="189684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6022080" y="3682080"/>
            <a:ext cx="264960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p:cNvSpPr/>
          <p:nvPr/>
        </p:nvSpPr>
        <p:spPr>
          <a:xfrm>
            <a:off x="0" y="0"/>
            <a:ext cx="144000" cy="6858000"/>
          </a:xfrm>
          <a:prstGeom prst="rect">
            <a:avLst/>
          </a:prstGeom>
          <a:solidFill>
            <a:srgbClr val="0054a6"/>
          </a:solidFill>
          <a:ln>
            <a:noFill/>
          </a:ln>
        </p:spPr>
        <p:style>
          <a:lnRef idx="0"/>
          <a:fillRef idx="0"/>
          <a:effectRef idx="0"/>
          <a:fontRef idx="minor"/>
        </p:style>
      </p:sp>
      <p:sp>
        <p:nvSpPr>
          <p:cNvPr id="1" name="CustomShape 2"/>
          <p:cNvSpPr/>
          <p:nvPr/>
        </p:nvSpPr>
        <p:spPr>
          <a:xfrm>
            <a:off x="0" y="0"/>
            <a:ext cx="144000" cy="1198440"/>
          </a:xfrm>
          <a:prstGeom prst="rect">
            <a:avLst/>
          </a:prstGeom>
          <a:solidFill>
            <a:srgbClr val="ffce34"/>
          </a:solidFill>
          <a:ln>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TextShape 1"/>
          <p:cNvSpPr txBox="1"/>
          <p:nvPr/>
        </p:nvSpPr>
        <p:spPr>
          <a:xfrm>
            <a:off x="1260000" y="152280"/>
            <a:ext cx="7200000" cy="451800"/>
          </a:xfrm>
          <a:prstGeom prst="rect">
            <a:avLst/>
          </a:prstGeom>
          <a:noFill/>
          <a:ln>
            <a:noFill/>
          </a:ln>
        </p:spPr>
        <p:txBody>
          <a:bodyPr lIns="90000" rIns="90000" tIns="46800" bIns="46800"/>
          <a:p>
            <a:r>
              <a:rPr b="0" lang="en-US" sz="1100" spc="-1" strike="noStrike">
                <a:solidFill>
                  <a:srgbClr val="000000"/>
                </a:solidFill>
                <a:latin typeface="Arial"/>
              </a:rPr>
              <a:t>FLIES AND FLOWERS IN DARWIN'S RACE</a:t>
            </a:r>
            <a:endParaRPr b="0" lang="en-US" sz="1100" spc="-1" strike="noStrike">
              <a:solidFill>
                <a:srgbClr val="000000"/>
              </a:solidFill>
              <a:latin typeface="Arial"/>
            </a:endParaRPr>
          </a:p>
        </p:txBody>
      </p:sp>
      <p:sp>
        <p:nvSpPr>
          <p:cNvPr id="45" name="TextShape 2"/>
          <p:cNvSpPr txBox="1"/>
          <p:nvPr/>
        </p:nvSpPr>
        <p:spPr>
          <a:xfrm>
            <a:off x="360000" y="5940000"/>
            <a:ext cx="8640000" cy="451800"/>
          </a:xfrm>
          <a:prstGeom prst="rect">
            <a:avLst/>
          </a:prstGeom>
          <a:noFill/>
          <a:ln>
            <a:noFill/>
          </a:ln>
        </p:spPr>
        <p:txBody>
          <a:bodyPr lIns="90000" rIns="90000" tIns="45000" bIns="45000"/>
          <a:p>
            <a:r>
              <a:rPr b="1" lang="en-US" sz="800" spc="-1" strike="noStrike">
                <a:solidFill>
                  <a:srgbClr val="0054a6"/>
                </a:solidFill>
                <a:latin typeface="Arial"/>
              </a:rPr>
              <a:t>Evolution, Volume: 63, Issue: 1, Pages: 268-279, First published: 14 January 2009, DOI: (10.1111/j.1558-5646.2008.00547.x) </a:t>
            </a:r>
            <a:endParaRPr b="0" lang="en-US" sz="800" spc="-1" strike="noStrike">
              <a:solidFill>
                <a:srgbClr val="000000"/>
              </a:solidFill>
              <a:latin typeface="Arial"/>
            </a:endParaRPr>
          </a:p>
        </p:txBody>
      </p:sp>
      <p:pic>
        <p:nvPicPr>
          <p:cNvPr id="46" name="Main graphic" descr=""/>
          <p:cNvPicPr/>
          <p:nvPr/>
        </p:nvPicPr>
        <p:blipFill>
          <a:blip r:embed="rId1"/>
          <a:stretch/>
        </p:blipFill>
        <p:spPr>
          <a:xfrm>
            <a:off x="2276640" y="762120"/>
            <a:ext cx="4641480" cy="3809880"/>
          </a:xfrm>
          <a:prstGeom prst="rect">
            <a:avLst/>
          </a:prstGeom>
          <a:ln>
            <a:noFill/>
          </a:ln>
        </p:spPr>
      </p:pic>
    </p:spTree>
  </p:cSld>
  <p:transition>
    <p:wipe dir="r"/>
  </p:transition>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LibreOffice/6.0.7.3$Linux_X86_64 LibreOffice_project/dc89aa7a9eabfd848af146d5086077aeed2ae4a5</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